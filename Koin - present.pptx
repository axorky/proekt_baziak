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B29"/>
    <a:srgbClr val="CC7700"/>
    <a:srgbClr val="CC8B00"/>
    <a:srgbClr val="CC9600"/>
    <a:srgbClr val="FFDC5C"/>
    <a:srgbClr val="A39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7AD72-C1E9-4F53-94DC-160175678DC5}" v="800" dt="2026-04-22T16:59:17.611"/>
    <p1510:client id="{829C2132-5339-4623-AFA7-661570EB65C3}" v="363" dt="2026-04-22T18:01:00.231"/>
    <p1510:client id="{84990A00-3E40-49B2-AB8D-67290DC77E21}" v="138" dt="2026-04-22T13:10:07.928"/>
    <p1510:client id="{ABBCEBF3-8BA8-47A3-8A66-F764EBBA1FA9}" v="1170" dt="2026-04-22T15:45:45.384"/>
    <p1510:client id="{D50D28FA-EB00-46E8-B0B6-6918E17C1F0A}" v="687" dt="2026-04-22T17:36:11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5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8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3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8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3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8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1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6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31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0ABA6-E800-C7F9-D32A-AA0860A4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DAD9D7-F868-1DED-A9E3-5354D781DFF6}"/>
              </a:ext>
            </a:extLst>
          </p:cNvPr>
          <p:cNvSpPr txBox="1"/>
          <p:nvPr/>
        </p:nvSpPr>
        <p:spPr>
          <a:xfrm>
            <a:off x="1203144" y="1119251"/>
            <a:ext cx="581907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Разработка</a:t>
            </a:r>
            <a:r>
              <a:rPr lang="en-US" sz="48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конвертера</a:t>
            </a:r>
            <a:r>
              <a:rPr lang="en-US" sz="48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48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4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endParaRPr lang="en-US" sz="4800" b="1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B2AB5-4FC3-BC40-5ACE-8B5013D74B3A}"/>
              </a:ext>
            </a:extLst>
          </p:cNvPr>
          <p:cNvSpPr txBox="1"/>
          <p:nvPr/>
        </p:nvSpPr>
        <p:spPr>
          <a:xfrm>
            <a:off x="1200305" y="3556516"/>
            <a:ext cx="464819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Веб-приложение</a:t>
            </a:r>
            <a:r>
              <a:rPr lang="en-US" sz="32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32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Python + </a:t>
            </a:r>
            <a:r>
              <a:rPr lang="en-US" sz="32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Streamlit</a:t>
            </a:r>
            <a:endParaRPr lang="en-US" sz="3200" b="1" dirty="0">
              <a:solidFill>
                <a:srgbClr val="CC96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90E59-3C42-7B91-9933-D897954999EC}"/>
              </a:ext>
            </a:extLst>
          </p:cNvPr>
          <p:cNvSpPr txBox="1"/>
          <p:nvPr/>
        </p:nvSpPr>
        <p:spPr>
          <a:xfrm>
            <a:off x="7000239" y="5039360"/>
            <a:ext cx="42468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Автор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Гецко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Вадим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группа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ИСП-42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19A26-2D2C-FE46-A02F-B05D471C369F}"/>
              </a:ext>
            </a:extLst>
          </p:cNvPr>
          <p:cNvSpPr txBox="1"/>
          <p:nvPr/>
        </p:nvSpPr>
        <p:spPr>
          <a:xfrm>
            <a:off x="7000240" y="5435600"/>
            <a:ext cx="46228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Руководители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Базяк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Г.В.,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Закирова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И.А.</a:t>
            </a:r>
          </a:p>
        </p:txBody>
      </p:sp>
      <p:pic>
        <p:nvPicPr>
          <p:cNvPr id="12" name="Picture 11" descr="A blue and white drawing of coins with arrows&#10;&#10;AI-generated content may be incorrect.">
            <a:extLst>
              <a:ext uri="{FF2B5EF4-FFF2-40B4-BE49-F238E27FC236}">
                <a16:creationId xmlns:a16="http://schemas.microsoft.com/office/drawing/2014/main" id="{65952D03-9C51-DA31-B876-57F47F954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0" y="604520"/>
            <a:ext cx="3576320" cy="364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90EECD-300A-8DA5-E1E3-29EE502D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94C60B-D883-DA74-DE19-BBFEF034E5F6}"/>
              </a:ext>
            </a:extLst>
          </p:cNvPr>
          <p:cNvSpPr txBox="1"/>
          <p:nvPr/>
        </p:nvSpPr>
        <p:spPr>
          <a:xfrm>
            <a:off x="1646538" y="1443340"/>
            <a:ext cx="99822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Большинство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людей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совершают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платежи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иностранной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валюте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покупки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подписки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переводы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связанные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с 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региональными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ценами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17BAB-282C-CB3E-B9F4-12DCE9C8A650}"/>
              </a:ext>
            </a:extLst>
          </p:cNvPr>
          <p:cNvSpPr txBox="1"/>
          <p:nvPr/>
        </p:nvSpPr>
        <p:spPr>
          <a:xfrm>
            <a:off x="692863" y="1446437"/>
            <a:ext cx="596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latin typeface="Calibri"/>
                <a:ea typeface="Calibri"/>
                <a:cs typeface="Calibri"/>
              </a:rPr>
              <a:t>💳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CF176-D01B-0FF9-AF20-E0AFDE9854AB}"/>
              </a:ext>
            </a:extLst>
          </p:cNvPr>
          <p:cNvSpPr txBox="1"/>
          <p:nvPr/>
        </p:nvSpPr>
        <p:spPr>
          <a:xfrm>
            <a:off x="877105" y="96024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Актуальность</a:t>
            </a:r>
            <a:endParaRPr lang="en-US" sz="3200" b="1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99DAA-0CE1-9EB0-447F-677D64B7FA34}"/>
              </a:ext>
            </a:extLst>
          </p:cNvPr>
          <p:cNvSpPr txBox="1"/>
          <p:nvPr/>
        </p:nvSpPr>
        <p:spPr>
          <a:xfrm>
            <a:off x="1645920" y="3545840"/>
            <a:ext cx="97434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Инвесторы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трейдеры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регулярно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отслеживают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фиатных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криптоактивов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1C9C0-638F-167D-8F6A-C5CF28377AED}"/>
              </a:ext>
            </a:extLst>
          </p:cNvPr>
          <p:cNvSpPr txBox="1"/>
          <p:nvPr/>
        </p:nvSpPr>
        <p:spPr>
          <a:xfrm>
            <a:off x="802640" y="3454400"/>
            <a:ext cx="6604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latin typeface="Calibri"/>
                <a:ea typeface="Calibri"/>
                <a:cs typeface="Calibri"/>
              </a:rPr>
              <a:t>📈</a:t>
            </a:r>
            <a:endParaRPr lang="en-US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40E9B-0D7F-4E25-BBE6-8E8547789C1C}"/>
              </a:ext>
            </a:extLst>
          </p:cNvPr>
          <p:cNvSpPr txBox="1"/>
          <p:nvPr/>
        </p:nvSpPr>
        <p:spPr>
          <a:xfrm>
            <a:off x="1645920" y="5547360"/>
            <a:ext cx="10414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Arial"/>
                <a:cs typeface="Arial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Существующие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сервисы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не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объединяют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фиат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крипту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одном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удобном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инструменте</a:t>
            </a:r>
            <a:r>
              <a:rPr lang="en-US" sz="2000">
                <a:solidFill>
                  <a:srgbClr val="CC77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9D7FEE-FB6F-24CD-9FD8-61A72863B8AA}"/>
              </a:ext>
            </a:extLst>
          </p:cNvPr>
          <p:cNvSpPr txBox="1"/>
          <p:nvPr/>
        </p:nvSpPr>
        <p:spPr>
          <a:xfrm>
            <a:off x="802640" y="5445760"/>
            <a:ext cx="6502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0" i="0" u="none" strike="noStrike" baseline="0">
                <a:solidFill>
                  <a:srgbClr val="000000"/>
                </a:solidFill>
                <a:latin typeface="Arial"/>
              </a:rPr>
              <a:t>🔎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7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4689E8-E2DA-3E53-2E2B-B8DD35BA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116AEB-E229-A0A1-FDB2-BC09FC67FA94}"/>
              </a:ext>
            </a:extLst>
          </p:cNvPr>
          <p:cNvSpPr txBox="1"/>
          <p:nvPr/>
        </p:nvSpPr>
        <p:spPr>
          <a:xfrm>
            <a:off x="802640" y="132080"/>
            <a:ext cx="34340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Проблемы</a:t>
            </a:r>
            <a:r>
              <a:rPr lang="en-US" sz="3200" b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3200" b="1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сферы</a:t>
            </a:r>
            <a:endParaRPr lang="en-US" sz="3200" err="1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EC62A7-1B0F-1716-8BDE-D484F0EA250B}"/>
              </a:ext>
            </a:extLst>
          </p:cNvPr>
          <p:cNvSpPr txBox="1"/>
          <p:nvPr/>
        </p:nvSpPr>
        <p:spPr>
          <a:xfrm>
            <a:off x="984834" y="1351366"/>
            <a:ext cx="43636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Разрозненность</a:t>
            </a:r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инструментов</a:t>
            </a:r>
            <a:endParaRPr lang="en-US" sz="2400" err="1">
              <a:solidFill>
                <a:srgbClr val="CC96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AE05C-150E-2FAD-A94B-A5444C8F9A86}"/>
              </a:ext>
            </a:extLst>
          </p:cNvPr>
          <p:cNvSpPr txBox="1"/>
          <p:nvPr/>
        </p:nvSpPr>
        <p:spPr>
          <a:xfrm>
            <a:off x="800582" y="2101528"/>
            <a:ext cx="529927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сервис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крипты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другой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Пользователю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приходится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переключаться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несколькими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приложениями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B1FD8F-6BD9-B100-6947-F40D843315BD}"/>
              </a:ext>
            </a:extLst>
          </p:cNvPr>
          <p:cNvSpPr txBox="1"/>
          <p:nvPr/>
        </p:nvSpPr>
        <p:spPr>
          <a:xfrm>
            <a:off x="7435857" y="1351365"/>
            <a:ext cx="34631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Необновленные</a:t>
            </a:r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данные</a:t>
            </a:r>
            <a:endParaRPr lang="en-US" sz="2400">
              <a:solidFill>
                <a:srgbClr val="CC96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AF1C47-0800-47F3-83C7-03F8A1D21EBC}"/>
              </a:ext>
            </a:extLst>
          </p:cNvPr>
          <p:cNvSpPr txBox="1"/>
          <p:nvPr/>
        </p:nvSpPr>
        <p:spPr>
          <a:xfrm>
            <a:off x="6645468" y="2101527"/>
            <a:ext cx="48403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Многие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конвертеры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обновляют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сутки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или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реже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что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критично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волатильном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рынке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2FEF5-C5A0-561F-F15D-A33609FFEEB0}"/>
              </a:ext>
            </a:extLst>
          </p:cNvPr>
          <p:cNvSpPr txBox="1"/>
          <p:nvPr/>
        </p:nvSpPr>
        <p:spPr>
          <a:xfrm>
            <a:off x="1738174" y="4330092"/>
            <a:ext cx="43636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Сложный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интерфейс</a:t>
            </a:r>
            <a:endParaRPr lang="en-US" err="1">
              <a:solidFill>
                <a:srgbClr val="CC96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469D-D0BB-E7D5-B176-BC0D0F2CF983}"/>
              </a:ext>
            </a:extLst>
          </p:cNvPr>
          <p:cNvSpPr txBox="1"/>
          <p:nvPr/>
        </p:nvSpPr>
        <p:spPr>
          <a:xfrm>
            <a:off x="869854" y="5080254"/>
            <a:ext cx="52300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Перегруженные сайты с рекламой и лишними </a:t>
            </a:r>
            <a:endParaRPr lang="en-US">
              <a:solidFill>
                <a:srgbClr val="002060"/>
              </a:solidFill>
              <a:latin typeface="Calisto MT"/>
              <a:ea typeface="Calibri"/>
              <a:cs typeface="Calibri"/>
            </a:endParaRPr>
          </a:p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функциями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мешают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быстро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получить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нужный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F094C7-22AA-3F4A-89DE-55A578AA73B1}"/>
              </a:ext>
            </a:extLst>
          </p:cNvPr>
          <p:cNvSpPr txBox="1"/>
          <p:nvPr/>
        </p:nvSpPr>
        <p:spPr>
          <a:xfrm>
            <a:off x="7106811" y="4330092"/>
            <a:ext cx="43723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быстрых</a:t>
            </a:r>
            <a:r>
              <a:rPr lang="en-US" sz="24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предложений</a:t>
            </a:r>
            <a:endParaRPr lang="en-US" sz="2400" b="1">
              <a:solidFill>
                <a:srgbClr val="CC96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0C9E4-B170-1638-FB7D-D03EF54491F5}"/>
              </a:ext>
            </a:extLst>
          </p:cNvPr>
          <p:cNvSpPr txBox="1"/>
          <p:nvPr/>
        </p:nvSpPr>
        <p:spPr>
          <a:xfrm>
            <a:off x="6645468" y="5080254"/>
            <a:ext cx="529927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Ни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из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популярных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сервисов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предлагает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быстрый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доступ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к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используемым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парам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316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3ED4D-FEA6-C1D6-809D-FC45C882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B00182-EADD-6C0C-8BB6-C566C589FB71}"/>
              </a:ext>
            </a:extLst>
          </p:cNvPr>
          <p:cNvSpPr txBox="1"/>
          <p:nvPr/>
        </p:nvSpPr>
        <p:spPr>
          <a:xfrm>
            <a:off x="804332" y="137583"/>
            <a:ext cx="34205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Цель</a:t>
            </a:r>
            <a:r>
              <a:rPr lang="en-US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3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задачи</a:t>
            </a:r>
            <a:endParaRPr lang="en-US" sz="3200" err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E2D9E-869D-3FB3-7D0E-AEFB7C374FA1}"/>
              </a:ext>
            </a:extLst>
          </p:cNvPr>
          <p:cNvSpPr txBox="1"/>
          <p:nvPr/>
        </p:nvSpPr>
        <p:spPr>
          <a:xfrm>
            <a:off x="804332" y="2275416"/>
            <a:ext cx="479636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Разработать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веб-приложение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позволяющее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гибко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конвертировать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фиатные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криптовалюты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актуальным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курсом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удобным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интерфейсом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а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также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полем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выбираемых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конвертации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00DC6-E042-4718-F228-CE0856054FCA}"/>
              </a:ext>
            </a:extLst>
          </p:cNvPr>
          <p:cNvSpPr txBox="1"/>
          <p:nvPr/>
        </p:nvSpPr>
        <p:spPr>
          <a:xfrm>
            <a:off x="804333" y="1428750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err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Цель</a:t>
            </a:r>
            <a:r>
              <a:rPr lang="en-US" sz="32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3C489-7E59-93CA-2698-422BC09674D5}"/>
              </a:ext>
            </a:extLst>
          </p:cNvPr>
          <p:cNvSpPr txBox="1"/>
          <p:nvPr/>
        </p:nvSpPr>
        <p:spPr>
          <a:xfrm>
            <a:off x="7228416" y="1174750"/>
            <a:ext cx="46905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Реализовать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получение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актуального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сайта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ЦБР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95F14-4E1E-BEB0-531B-3873D22DBDC6}"/>
              </a:ext>
            </a:extLst>
          </p:cNvPr>
          <p:cNvSpPr txBox="1"/>
          <p:nvPr/>
        </p:nvSpPr>
        <p:spPr>
          <a:xfrm>
            <a:off x="7228417" y="2275417"/>
            <a:ext cx="45000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Подключить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API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получения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курсов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реальном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времени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421E84-431E-7DCA-4A24-7422FC1576E4}"/>
              </a:ext>
            </a:extLst>
          </p:cNvPr>
          <p:cNvSpPr txBox="1"/>
          <p:nvPr/>
        </p:nvSpPr>
        <p:spPr>
          <a:xfrm>
            <a:off x="7228416" y="3428999"/>
            <a:ext cx="432011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Разработать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интерфейс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выбором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ввода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количества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D63845-474D-00C4-698E-3E8CF8EC6E08}"/>
              </a:ext>
            </a:extLst>
          </p:cNvPr>
          <p:cNvSpPr txBox="1"/>
          <p:nvPr/>
        </p:nvSpPr>
        <p:spPr>
          <a:xfrm>
            <a:off x="7228417" y="4519084"/>
            <a:ext cx="45000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Узнать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добавить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используемые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E5D006-49D4-FC98-8E41-A99FE31FC069}"/>
              </a:ext>
            </a:extLst>
          </p:cNvPr>
          <p:cNvSpPr txBox="1"/>
          <p:nvPr/>
        </p:nvSpPr>
        <p:spPr>
          <a:xfrm>
            <a:off x="7228417" y="5693833"/>
            <a:ext cx="45000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Обеспечить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корректную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работу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браузер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помощью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Streamlit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9F954-64A2-3D68-A1D5-6226326E665B}"/>
              </a:ext>
            </a:extLst>
          </p:cNvPr>
          <p:cNvSpPr txBox="1"/>
          <p:nvPr/>
        </p:nvSpPr>
        <p:spPr>
          <a:xfrm>
            <a:off x="6508749" y="1111250"/>
            <a:ext cx="7217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9729E-A67B-5AD9-AC42-473BCB3C5A44}"/>
              </a:ext>
            </a:extLst>
          </p:cNvPr>
          <p:cNvSpPr txBox="1"/>
          <p:nvPr/>
        </p:nvSpPr>
        <p:spPr>
          <a:xfrm>
            <a:off x="6508748" y="2211916"/>
            <a:ext cx="7217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48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DBCC6A-7B11-891C-E66A-803903652C45}"/>
              </a:ext>
            </a:extLst>
          </p:cNvPr>
          <p:cNvSpPr txBox="1"/>
          <p:nvPr/>
        </p:nvSpPr>
        <p:spPr>
          <a:xfrm>
            <a:off x="6508749" y="3365500"/>
            <a:ext cx="7217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B43B4-F252-3C5F-CAFA-1F72CD6F56D4}"/>
              </a:ext>
            </a:extLst>
          </p:cNvPr>
          <p:cNvSpPr txBox="1"/>
          <p:nvPr/>
        </p:nvSpPr>
        <p:spPr>
          <a:xfrm>
            <a:off x="6508749" y="4455583"/>
            <a:ext cx="7217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302E07-A428-531E-DCC3-7DBB34A9A892}"/>
              </a:ext>
            </a:extLst>
          </p:cNvPr>
          <p:cNvSpPr txBox="1"/>
          <p:nvPr/>
        </p:nvSpPr>
        <p:spPr>
          <a:xfrm>
            <a:off x="6508748" y="5630333"/>
            <a:ext cx="7217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CC96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511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DD470-8FCE-B17A-F231-DCE4B42E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879477-6731-AC6B-011D-98D100A16FB5}"/>
              </a:ext>
            </a:extLst>
          </p:cNvPr>
          <p:cNvSpPr txBox="1"/>
          <p:nvPr/>
        </p:nvSpPr>
        <p:spPr>
          <a:xfrm>
            <a:off x="603249" y="137583"/>
            <a:ext cx="391795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Моя</a:t>
            </a: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программа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801DA-5D5C-ED8A-DA0A-37B4EFA6DF5B}"/>
              </a:ext>
            </a:extLst>
          </p:cNvPr>
          <p:cNvSpPr txBox="1"/>
          <p:nvPr/>
        </p:nvSpPr>
        <p:spPr>
          <a:xfrm>
            <a:off x="804333" y="1439333"/>
            <a:ext cx="423545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Koin - </a:t>
            </a:r>
            <a:r>
              <a:rPr lang="en-US" sz="32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Конвертер</a:t>
            </a:r>
            <a:r>
              <a:rPr lang="en-US" sz="32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32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32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криптовалют</a:t>
            </a:r>
            <a:endParaRPr lang="en-US" sz="3200" b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8FAC8-B194-5571-6013-56CEA9DC946E}"/>
              </a:ext>
            </a:extLst>
          </p:cNvPr>
          <p:cNvSpPr txBox="1"/>
          <p:nvPr/>
        </p:nvSpPr>
        <p:spPr>
          <a:xfrm>
            <a:off x="804333" y="2719917"/>
            <a:ext cx="3915834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Веб-приложение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Python,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которое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объединяет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фиатные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криптовалюту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едином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удобном</a:t>
            </a:r>
            <a:r>
              <a:rPr lang="en-US" sz="24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интерфейсе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ничего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трудного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выбрал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вылюты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ввел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количество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перед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глазами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ctr"/>
            <a:endParaRPr lang="en-US">
              <a:latin typeface="Calisto MT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A1C7EF-2614-65C9-6F63-3FDB4E87C63C}"/>
              </a:ext>
            </a:extLst>
          </p:cNvPr>
          <p:cNvSpPr txBox="1"/>
          <p:nvPr/>
        </p:nvSpPr>
        <p:spPr>
          <a:xfrm>
            <a:off x="7355417" y="1365249"/>
            <a:ext cx="38226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Конвертация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фиатных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по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курсу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ЦБР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66A7C-D401-A58F-689C-402B7AAA4F2F}"/>
              </a:ext>
            </a:extLst>
          </p:cNvPr>
          <p:cNvSpPr txBox="1"/>
          <p:nvPr/>
        </p:nvSpPr>
        <p:spPr>
          <a:xfrm>
            <a:off x="6551083" y="1439334"/>
            <a:ext cx="70908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✅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9CBD22-2588-F859-4E46-32A1185C24CD}"/>
              </a:ext>
            </a:extLst>
          </p:cNvPr>
          <p:cNvSpPr txBox="1"/>
          <p:nvPr/>
        </p:nvSpPr>
        <p:spPr>
          <a:xfrm>
            <a:off x="7355416" y="2402415"/>
            <a:ext cx="38226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Конвертация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API в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реальном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времени</a:t>
            </a:r>
            <a:endParaRPr lang="en-US" sz="2000" err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F9AE1-9ABF-EF18-8FE9-30E277F6DF73}"/>
              </a:ext>
            </a:extLst>
          </p:cNvPr>
          <p:cNvSpPr txBox="1"/>
          <p:nvPr/>
        </p:nvSpPr>
        <p:spPr>
          <a:xfrm>
            <a:off x="6551082" y="2476500"/>
            <a:ext cx="70908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✅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57F6C1-51CD-896F-AF7E-7E40D530173E}"/>
              </a:ext>
            </a:extLst>
          </p:cNvPr>
          <p:cNvSpPr txBox="1"/>
          <p:nvPr/>
        </p:nvSpPr>
        <p:spPr>
          <a:xfrm>
            <a:off x="7366000" y="3439582"/>
            <a:ext cx="38226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Быстрый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выбор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популярных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валютных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пар</a:t>
            </a:r>
            <a:endParaRPr lang="en-US" sz="2000" err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0D1F3-C2B7-37CB-8FEC-D5915D9A106A}"/>
              </a:ext>
            </a:extLst>
          </p:cNvPr>
          <p:cNvSpPr txBox="1"/>
          <p:nvPr/>
        </p:nvSpPr>
        <p:spPr>
          <a:xfrm>
            <a:off x="6561666" y="3513667"/>
            <a:ext cx="70908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✅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47224E-EB26-D6DA-7E66-FC7C39BFBCF7}"/>
              </a:ext>
            </a:extLst>
          </p:cNvPr>
          <p:cNvSpPr txBox="1"/>
          <p:nvPr/>
        </p:nvSpPr>
        <p:spPr>
          <a:xfrm>
            <a:off x="7376583" y="4466166"/>
            <a:ext cx="38226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Мгновенный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обмен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местами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одной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кнопкой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2E6D9-5D73-9EE3-2285-EA4D7D62E617}"/>
              </a:ext>
            </a:extLst>
          </p:cNvPr>
          <p:cNvSpPr txBox="1"/>
          <p:nvPr/>
        </p:nvSpPr>
        <p:spPr>
          <a:xfrm>
            <a:off x="6572250" y="4540250"/>
            <a:ext cx="70908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✅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9F8559-2357-1085-C6D2-30CBF15A19AF}"/>
              </a:ext>
            </a:extLst>
          </p:cNvPr>
          <p:cNvSpPr txBox="1"/>
          <p:nvPr/>
        </p:nvSpPr>
        <p:spPr>
          <a:xfrm>
            <a:off x="7355416" y="5535082"/>
            <a:ext cx="38226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Отображение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даты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последнего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обновления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курса</a:t>
            </a:r>
            <a:endParaRPr lang="en-US" sz="2000" err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71F18C-D912-3151-2C3A-DEC178004F0F}"/>
              </a:ext>
            </a:extLst>
          </p:cNvPr>
          <p:cNvSpPr txBox="1"/>
          <p:nvPr/>
        </p:nvSpPr>
        <p:spPr>
          <a:xfrm>
            <a:off x="6551082" y="5609167"/>
            <a:ext cx="70908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✅</a:t>
            </a:r>
            <a:endParaRPr lang="en-US" sz="32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0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A6B032-1E1E-2D9E-428E-3920558E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3D71B8-BC57-26BF-785C-EDE841F22870}"/>
              </a:ext>
            </a:extLst>
          </p:cNvPr>
          <p:cNvSpPr txBox="1"/>
          <p:nvPr/>
        </p:nvSpPr>
        <p:spPr>
          <a:xfrm>
            <a:off x="619760" y="137160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Возможности программы</a:t>
            </a:r>
            <a:endParaRPr lang="en-US" sz="3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3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B0989-0902-3117-B1EE-823BECFFE19D}"/>
              </a:ext>
            </a:extLst>
          </p:cNvPr>
          <p:cNvSpPr txBox="1"/>
          <p:nvPr/>
        </p:nvSpPr>
        <p:spPr>
          <a:xfrm>
            <a:off x="1584960" y="1346200"/>
            <a:ext cx="3423920" cy="748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Конвертация</a:t>
            </a:r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i="0" u="none" strike="noStrike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💱</a:t>
            </a:r>
            <a:endParaRPr lang="en-US" sz="2400" b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D5F25-D9F0-1ABE-465B-8CCF0A63CE86}"/>
              </a:ext>
            </a:extLst>
          </p:cNvPr>
          <p:cNvSpPr txBox="1"/>
          <p:nvPr/>
        </p:nvSpPr>
        <p:spPr>
          <a:xfrm>
            <a:off x="833120" y="1894840"/>
            <a:ext cx="49276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Поддержка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всех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основных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мировых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берётся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официального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сайта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Центрального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Банка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России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обновляется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автоматически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633345-C103-17A7-1989-688780FEC11B}"/>
              </a:ext>
            </a:extLst>
          </p:cNvPr>
          <p:cNvSpPr txBox="1"/>
          <p:nvPr/>
        </p:nvSpPr>
        <p:spPr>
          <a:xfrm>
            <a:off x="6959600" y="1356359"/>
            <a:ext cx="413512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Конвертация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₿</a:t>
            </a:r>
            <a:endParaRPr lang="en-US" sz="2400" b="1">
              <a:solidFill>
                <a:srgbClr val="FFBB29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B56D9-EB96-BB2D-7CF5-A3EA38587C21}"/>
              </a:ext>
            </a:extLst>
          </p:cNvPr>
          <p:cNvSpPr txBox="1"/>
          <p:nvPr/>
        </p:nvSpPr>
        <p:spPr>
          <a:xfrm>
            <a:off x="6563359" y="1904999"/>
            <a:ext cx="49276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Подключение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к API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криптобирж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позволяет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получать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актуальный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популярных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режиме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реального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времени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D9E140-07B9-9D34-6F4B-E24A2927B5B4}"/>
              </a:ext>
            </a:extLst>
          </p:cNvPr>
          <p:cNvSpPr txBox="1"/>
          <p:nvPr/>
        </p:nvSpPr>
        <p:spPr>
          <a:xfrm>
            <a:off x="1209040" y="4170679"/>
            <a:ext cx="417576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Система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быстрого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выбора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⚡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74554-69ED-AB8D-DAA1-E58450098711}"/>
              </a:ext>
            </a:extLst>
          </p:cNvPr>
          <p:cNvSpPr txBox="1"/>
          <p:nvPr/>
        </p:nvSpPr>
        <p:spPr>
          <a:xfrm>
            <a:off x="833119" y="4719319"/>
            <a:ext cx="49276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Блок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популярных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(USD–RUB, BTC–USDT 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др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.)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позволяет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начать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конвертацию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клик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ручного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ввода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1322D-D06F-3964-0283-9BF19CB6D4F4}"/>
              </a:ext>
            </a:extLst>
          </p:cNvPr>
          <p:cNvSpPr txBox="1"/>
          <p:nvPr/>
        </p:nvSpPr>
        <p:spPr>
          <a:xfrm>
            <a:off x="7833360" y="4170679"/>
            <a:ext cx="23876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Гибкий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ввод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🔄</a:t>
            </a:r>
            <a:endParaRPr lang="en-US" sz="2400" b="1">
              <a:solidFill>
                <a:srgbClr val="FFBB29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652B7-04B3-F600-64C8-662F366E7888}"/>
              </a:ext>
            </a:extLst>
          </p:cNvPr>
          <p:cNvSpPr txBox="1"/>
          <p:nvPr/>
        </p:nvSpPr>
        <p:spPr>
          <a:xfrm>
            <a:off x="6563359" y="4719319"/>
            <a:ext cx="49276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Пользователь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может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вводить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любое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количество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менять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местами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кнопкой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сразу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видеть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внизу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страницы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4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91B2E4-60F8-A514-2CE0-F6366ADB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9B0ED-F6DC-73E6-BDB5-E33069691D20}"/>
              </a:ext>
            </a:extLst>
          </p:cNvPr>
          <p:cNvSpPr txBox="1"/>
          <p:nvPr/>
        </p:nvSpPr>
        <p:spPr>
          <a:xfrm>
            <a:off x="706244" y="139391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Технологическая основа</a:t>
            </a:r>
            <a:endParaRPr lang="en-US" sz="3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3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ABB6D-FECD-9D85-A386-3CDA66ECEAD1}"/>
              </a:ext>
            </a:extLst>
          </p:cNvPr>
          <p:cNvSpPr txBox="1"/>
          <p:nvPr/>
        </p:nvSpPr>
        <p:spPr>
          <a:xfrm>
            <a:off x="1115121" y="2583366"/>
            <a:ext cx="11615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Python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931F8-E415-5D64-A6F7-7E937D045488}"/>
              </a:ext>
            </a:extLst>
          </p:cNvPr>
          <p:cNvSpPr txBox="1"/>
          <p:nvPr/>
        </p:nvSpPr>
        <p:spPr>
          <a:xfrm>
            <a:off x="1411744" y="1524000"/>
            <a:ext cx="5315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50C1E-2398-8847-FFE3-4C65B3805038}"/>
              </a:ext>
            </a:extLst>
          </p:cNvPr>
          <p:cNvSpPr txBox="1"/>
          <p:nvPr/>
        </p:nvSpPr>
        <p:spPr>
          <a:xfrm>
            <a:off x="443819" y="3071418"/>
            <a:ext cx="247371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Язык</a:t>
            </a:r>
            <a:r>
              <a:rPr lang="en-US" sz="200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программирования</a:t>
            </a:r>
            <a:endParaRPr lang="en-US" sz="200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B30DD-0363-B2ED-1E3B-701475BFA115}"/>
              </a:ext>
            </a:extLst>
          </p:cNvPr>
          <p:cNvSpPr txBox="1"/>
          <p:nvPr/>
        </p:nvSpPr>
        <p:spPr>
          <a:xfrm>
            <a:off x="520390" y="3930805"/>
            <a:ext cx="232317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Простой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синтаксис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отличная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экосистема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библиотек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идеален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работы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API и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обработки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данных</a:t>
            </a:r>
            <a:r>
              <a:rPr lang="en-US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0BE74-C1B4-1C66-27F4-172DE2B4EC00}"/>
              </a:ext>
            </a:extLst>
          </p:cNvPr>
          <p:cNvSpPr txBox="1"/>
          <p:nvPr/>
        </p:nvSpPr>
        <p:spPr>
          <a:xfrm>
            <a:off x="3893633" y="2564781"/>
            <a:ext cx="15147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Streamlit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9F9AA-CA65-C8A6-B23E-62B2848AF4BE}"/>
              </a:ext>
            </a:extLst>
          </p:cNvPr>
          <p:cNvSpPr txBox="1"/>
          <p:nvPr/>
        </p:nvSpPr>
        <p:spPr>
          <a:xfrm>
            <a:off x="4357524" y="1514707"/>
            <a:ext cx="5315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9E1C9-FEEC-46DE-9714-CE0878A7EE0D}"/>
              </a:ext>
            </a:extLst>
          </p:cNvPr>
          <p:cNvSpPr txBox="1"/>
          <p:nvPr/>
        </p:nvSpPr>
        <p:spPr>
          <a:xfrm>
            <a:off x="3389599" y="3229393"/>
            <a:ext cx="24737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Веб-фреймворк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1C2EB-3280-91D6-1999-AF0417C1E056}"/>
              </a:ext>
            </a:extLst>
          </p:cNvPr>
          <p:cNvSpPr txBox="1"/>
          <p:nvPr/>
        </p:nvSpPr>
        <p:spPr>
          <a:xfrm>
            <a:off x="3466170" y="3930804"/>
            <a:ext cx="239751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Запускает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приложение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браузере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локальный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порт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Гибкий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аналог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GUI с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интуитивной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логикой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CSS-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поддержкой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8A867-BAD3-D57B-C53B-1036E280C0D7}"/>
              </a:ext>
            </a:extLst>
          </p:cNvPr>
          <p:cNvSpPr txBox="1"/>
          <p:nvPr/>
        </p:nvSpPr>
        <p:spPr>
          <a:xfrm>
            <a:off x="6681437" y="2397511"/>
            <a:ext cx="181207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Requests +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xml.etree</a:t>
            </a:r>
            <a:endParaRPr lang="en-US" sz="2400" err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311BD-C1E6-2563-23EC-6E942EAB7822}"/>
              </a:ext>
            </a:extLst>
          </p:cNvPr>
          <p:cNvSpPr txBox="1"/>
          <p:nvPr/>
        </p:nvSpPr>
        <p:spPr>
          <a:xfrm>
            <a:off x="7321889" y="1505414"/>
            <a:ext cx="5315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B9D2C-6D5C-459E-5CB7-498F317E30C9}"/>
              </a:ext>
            </a:extLst>
          </p:cNvPr>
          <p:cNvSpPr txBox="1"/>
          <p:nvPr/>
        </p:nvSpPr>
        <p:spPr>
          <a:xfrm>
            <a:off x="6353964" y="3229393"/>
            <a:ext cx="24737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Получение</a:t>
            </a:r>
            <a:r>
              <a:rPr lang="en-US" sz="200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данных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E3664F-2E53-BA1D-8340-792478B092B3}"/>
              </a:ext>
            </a:extLst>
          </p:cNvPr>
          <p:cNvSpPr txBox="1"/>
          <p:nvPr/>
        </p:nvSpPr>
        <p:spPr>
          <a:xfrm>
            <a:off x="6430535" y="3912219"/>
            <a:ext cx="23231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Библиотека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requests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получает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XML с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сайта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ЦБР и JSON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API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криптобирж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xml.etree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парсит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нужные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значения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курса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4A50E-9AA2-3BA6-8F30-DDF73065C9C9}"/>
              </a:ext>
            </a:extLst>
          </p:cNvPr>
          <p:cNvSpPr txBox="1"/>
          <p:nvPr/>
        </p:nvSpPr>
        <p:spPr>
          <a:xfrm>
            <a:off x="9748022" y="2564779"/>
            <a:ext cx="155187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Crypto API</a:t>
            </a:r>
          </a:p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938B98-649A-DFC0-0302-8E37EC7B5D6F}"/>
              </a:ext>
            </a:extLst>
          </p:cNvPr>
          <p:cNvSpPr txBox="1"/>
          <p:nvPr/>
        </p:nvSpPr>
        <p:spPr>
          <a:xfrm>
            <a:off x="10258377" y="1496121"/>
            <a:ext cx="5315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8AEB9-5479-C3BF-0F30-2FF325C9892A}"/>
              </a:ext>
            </a:extLst>
          </p:cNvPr>
          <p:cNvSpPr txBox="1"/>
          <p:nvPr/>
        </p:nvSpPr>
        <p:spPr>
          <a:xfrm>
            <a:off x="9290452" y="3229393"/>
            <a:ext cx="24737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Криптовалюты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DCDD77-DE14-2217-358D-24F16D8084FD}"/>
              </a:ext>
            </a:extLst>
          </p:cNvPr>
          <p:cNvSpPr txBox="1"/>
          <p:nvPr/>
        </p:nvSpPr>
        <p:spPr>
          <a:xfrm>
            <a:off x="9367023" y="3902926"/>
            <a:ext cx="23231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urllib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JSON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загружаются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актуальные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курсы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внешних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сервисов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API-</a:t>
            </a:r>
            <a:r>
              <a:rPr lang="en-US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ключам</a:t>
            </a:r>
            <a:r>
              <a:rPr lang="en-US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249E66-8109-F612-C9E2-AB20FDC2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F739E2-0076-1642-85A4-2D52589E8C81}"/>
              </a:ext>
            </a:extLst>
          </p:cNvPr>
          <p:cNvSpPr txBox="1"/>
          <p:nvPr/>
        </p:nvSpPr>
        <p:spPr>
          <a:xfrm>
            <a:off x="711200" y="137160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Целевая аудитория</a:t>
            </a:r>
            <a:endParaRPr lang="en-US" sz="3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3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037A6-CEEA-429F-0E65-821CC468493A}"/>
              </a:ext>
            </a:extLst>
          </p:cNvPr>
          <p:cNvSpPr txBox="1"/>
          <p:nvPr/>
        </p:nvSpPr>
        <p:spPr>
          <a:xfrm>
            <a:off x="579120" y="2494280"/>
            <a:ext cx="17068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 i="0" u="none" strike="noStrike">
                <a:solidFill>
                  <a:srgbClr val="FFBB29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Инвесторы</a:t>
            </a:r>
            <a:endParaRPr lang="en-US" sz="2400" err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BB2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F01C0-ECD1-787A-D661-663428B6F6CE}"/>
              </a:ext>
            </a:extLst>
          </p:cNvPr>
          <p:cNvSpPr txBox="1"/>
          <p:nvPr/>
        </p:nvSpPr>
        <p:spPr>
          <a:xfrm>
            <a:off x="934720" y="1539240"/>
            <a:ext cx="863600" cy="11181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👤</a:t>
            </a:r>
            <a:endParaRPr lang="en-US" sz="480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1FBEE-6D81-E210-2B0F-246A8E36F0A2}"/>
              </a:ext>
            </a:extLst>
          </p:cNvPr>
          <p:cNvSpPr txBox="1"/>
          <p:nvPr/>
        </p:nvSpPr>
        <p:spPr>
          <a:xfrm>
            <a:off x="2286000" y="1539240"/>
            <a:ext cx="328168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Следит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курсами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крипты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сравнивает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активы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Нужен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быстрый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точный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инструмент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лишнего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шума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02A53-7C60-233C-C8F3-62293E670B4B}"/>
              </a:ext>
            </a:extLst>
          </p:cNvPr>
          <p:cNvSpPr txBox="1"/>
          <p:nvPr/>
        </p:nvSpPr>
        <p:spPr>
          <a:xfrm>
            <a:off x="6492240" y="2494280"/>
            <a:ext cx="170688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Arial"/>
                <a:ea typeface="Calibri"/>
                <a:cs typeface="Arial"/>
              </a:rPr>
              <a:t>Путешест-венник</a:t>
            </a:r>
            <a:endParaRPr lang="en-US" sz="2400" b="1" err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BB2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8C376-C257-7494-12CB-34B1AC3B85B8}"/>
              </a:ext>
            </a:extLst>
          </p:cNvPr>
          <p:cNvSpPr txBox="1"/>
          <p:nvPr/>
        </p:nvSpPr>
        <p:spPr>
          <a:xfrm>
            <a:off x="6847839" y="1539240"/>
            <a:ext cx="863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rial"/>
                <a:ea typeface="Calibri"/>
                <a:cs typeface="Arial"/>
              </a:rPr>
              <a:t>✈️</a:t>
            </a:r>
            <a:endParaRPr lang="en-US" sz="4800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7C6B42-B1C8-0E2E-9C30-3BF705BC3645}"/>
              </a:ext>
            </a:extLst>
          </p:cNvPr>
          <p:cNvSpPr txBox="1"/>
          <p:nvPr/>
        </p:nvSpPr>
        <p:spPr>
          <a:xfrm>
            <a:off x="8199120" y="1539240"/>
            <a:ext cx="328168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Перед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поездкой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проверяет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обмена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считает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бюджет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Ценит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простоту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актуальность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данных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DE565-2894-EE5B-E95E-36B885C094FB}"/>
              </a:ext>
            </a:extLst>
          </p:cNvPr>
          <p:cNvSpPr txBox="1"/>
          <p:nvPr/>
        </p:nvSpPr>
        <p:spPr>
          <a:xfrm>
            <a:off x="406400" y="5339080"/>
            <a:ext cx="20624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Arial"/>
                <a:ea typeface="Calibri"/>
                <a:cs typeface="Arial"/>
              </a:rPr>
              <a:t>Фрилансер</a:t>
            </a:r>
            <a:endParaRPr lang="en-US" sz="2400" b="1" err="1">
              <a:solidFill>
                <a:srgbClr val="FFBB29"/>
              </a:solidFill>
              <a:latin typeface="Arial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BB2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12B5B2-D332-DB67-C635-77766C2349E0}"/>
              </a:ext>
            </a:extLst>
          </p:cNvPr>
          <p:cNvSpPr txBox="1"/>
          <p:nvPr/>
        </p:nvSpPr>
        <p:spPr>
          <a:xfrm>
            <a:off x="934719" y="4384040"/>
            <a:ext cx="863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rial"/>
                <a:ea typeface="Calibri"/>
                <a:cs typeface="Arial"/>
              </a:rPr>
              <a:t>💻</a:t>
            </a:r>
            <a:endParaRPr lang="en-US" sz="4800"/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C46F25-A8A8-3B97-4067-3AB30DD12E5F}"/>
              </a:ext>
            </a:extLst>
          </p:cNvPr>
          <p:cNvSpPr txBox="1"/>
          <p:nvPr/>
        </p:nvSpPr>
        <p:spPr>
          <a:xfrm>
            <a:off x="2387599" y="4373880"/>
            <a:ext cx="349504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Получает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оплату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иностранной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переводит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рубли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проверяет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одни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же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нужен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быстрый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доступ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3CAC6-8BCB-D25D-1928-A179C4F473C1}"/>
              </a:ext>
            </a:extLst>
          </p:cNvPr>
          <p:cNvSpPr txBox="1"/>
          <p:nvPr/>
        </p:nvSpPr>
        <p:spPr>
          <a:xfrm>
            <a:off x="6492240" y="5339080"/>
            <a:ext cx="170688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Студент</a:t>
            </a:r>
            <a:br>
              <a:rPr lang="en-US" sz="2400" b="1">
                <a:latin typeface="Calibri"/>
                <a:ea typeface="Calibri"/>
                <a:cs typeface="Calibri"/>
              </a:rPr>
            </a:b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Трейдер</a:t>
            </a:r>
            <a:endParaRPr lang="en-US" sz="2400" b="1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BB2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294DF3-5403-B707-01EF-704697D3D442}"/>
              </a:ext>
            </a:extLst>
          </p:cNvPr>
          <p:cNvSpPr txBox="1"/>
          <p:nvPr/>
        </p:nvSpPr>
        <p:spPr>
          <a:xfrm>
            <a:off x="6847839" y="4384040"/>
            <a:ext cx="863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rial"/>
                <a:ea typeface="Calibri"/>
                <a:cs typeface="Arial"/>
              </a:rPr>
              <a:t>🎓</a:t>
            </a:r>
            <a:endParaRPr lang="en-US" sz="4800"/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C8786A-A452-6748-2EE6-0AEEB3FCB4B7}"/>
              </a:ext>
            </a:extLst>
          </p:cNvPr>
          <p:cNvSpPr txBox="1"/>
          <p:nvPr/>
        </p:nvSpPr>
        <p:spPr>
          <a:xfrm>
            <a:off x="8199119" y="4384040"/>
            <a:ext cx="328168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Интересуется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криптовалютами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изучает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рынок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Ищет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бесплатный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понятный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инструмент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регистрации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FAB97B-E70D-79EE-9F2E-5A3E57E9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6" t="-402" b="266"/>
          <a:stretch>
            <a:fillRect/>
          </a:stretch>
        </p:blipFill>
        <p:spPr>
          <a:xfrm>
            <a:off x="-20321" y="-99794"/>
            <a:ext cx="12431461" cy="69718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39F8A3-C3FD-B8A0-A385-65AD0BAD1BA7}"/>
              </a:ext>
            </a:extLst>
          </p:cNvPr>
          <p:cNvSpPr txBox="1"/>
          <p:nvPr/>
        </p:nvSpPr>
        <p:spPr>
          <a:xfrm>
            <a:off x="633653" y="84173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Анализ</a:t>
            </a:r>
            <a:r>
              <a:rPr lang="en-US" sz="3200" b="1" i="0" u="none" strike="noStrik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конкурентов</a:t>
            </a:r>
            <a:endParaRPr lang="en-US" sz="3200" err="1">
              <a:solidFill>
                <a:schemeClr val="bg1"/>
              </a:solidFill>
              <a:latin typeface="Calisto MT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3D5EE-156C-2F14-72E8-56DA4AD43319}"/>
              </a:ext>
            </a:extLst>
          </p:cNvPr>
          <p:cNvSpPr txBox="1"/>
          <p:nvPr/>
        </p:nvSpPr>
        <p:spPr>
          <a:xfrm>
            <a:off x="464634" y="2193073"/>
            <a:ext cx="19235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Google </a:t>
            </a:r>
            <a:r>
              <a:rPr lang="en-US" b="1" i="0" u="none" strike="noStrike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Конвертер</a:t>
            </a:r>
            <a:endParaRPr lang="en-US" err="1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65A53-4A38-FD38-9BF5-D3AFD5199AA7}"/>
              </a:ext>
            </a:extLst>
          </p:cNvPr>
          <p:cNvSpPr txBox="1"/>
          <p:nvPr/>
        </p:nvSpPr>
        <p:spPr>
          <a:xfrm>
            <a:off x="2462561" y="2193073"/>
            <a:ext cx="4088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⚠️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0A604-75B8-3331-A8C4-AF92EE8F4207}"/>
              </a:ext>
            </a:extLst>
          </p:cNvPr>
          <p:cNvSpPr txBox="1"/>
          <p:nvPr/>
        </p:nvSpPr>
        <p:spPr>
          <a:xfrm>
            <a:off x="3140927" y="2220951"/>
            <a:ext cx="870724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поддержки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рекомендаций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всегда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соответствует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официальному</a:t>
            </a:r>
            <a:r>
              <a:rPr lang="en-US" sz="160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ЦБР.</a:t>
            </a:r>
            <a:endParaRPr lang="en-US" sz="16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7C6F9-1016-25A9-DEC6-0B40A510A031}"/>
              </a:ext>
            </a:extLst>
          </p:cNvPr>
          <p:cNvSpPr txBox="1"/>
          <p:nvPr/>
        </p:nvSpPr>
        <p:spPr>
          <a:xfrm>
            <a:off x="464633" y="3159512"/>
            <a:ext cx="192358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XE.com</a:t>
            </a:r>
            <a:endParaRPr lang="en-US" sz="2000">
              <a:solidFill>
                <a:schemeClr val="bg1"/>
              </a:solidFill>
              <a:latin typeface="Calisto MT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14FDF-6F1D-9BFA-05AC-F2F5358E3091}"/>
              </a:ext>
            </a:extLst>
          </p:cNvPr>
          <p:cNvSpPr txBox="1"/>
          <p:nvPr/>
        </p:nvSpPr>
        <p:spPr>
          <a:xfrm>
            <a:off x="2462560" y="3038707"/>
            <a:ext cx="4088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⚠️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E7E65-D29E-1E87-EC13-496B8EB47CFC}"/>
              </a:ext>
            </a:extLst>
          </p:cNvPr>
          <p:cNvSpPr txBox="1"/>
          <p:nvPr/>
        </p:nvSpPr>
        <p:spPr>
          <a:xfrm>
            <a:off x="3140926" y="3066585"/>
            <a:ext cx="870724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Перегруженный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интерфейс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рекламой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Криптовалюты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в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отдельном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разделе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быстрого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выбора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</a:t>
            </a:r>
            <a:endParaRPr lang="en-US" sz="1600" err="1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02C3A-C6B6-A98C-5F08-855D3E205C7B}"/>
              </a:ext>
            </a:extLst>
          </p:cNvPr>
          <p:cNvSpPr txBox="1"/>
          <p:nvPr/>
        </p:nvSpPr>
        <p:spPr>
          <a:xfrm>
            <a:off x="464633" y="3995853"/>
            <a:ext cx="192358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Binance / </a:t>
            </a:r>
            <a:r>
              <a:rPr lang="en-US" sz="20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Bybit</a:t>
            </a:r>
            <a:endParaRPr lang="en-US" sz="200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31902-F301-36C7-62F9-F61147E4F27C}"/>
              </a:ext>
            </a:extLst>
          </p:cNvPr>
          <p:cNvSpPr txBox="1"/>
          <p:nvPr/>
        </p:nvSpPr>
        <p:spPr>
          <a:xfrm>
            <a:off x="2462561" y="3875048"/>
            <a:ext cx="4088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⚠️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EA847-AEA7-F2B2-5DC9-3FEAC83C1019}"/>
              </a:ext>
            </a:extLst>
          </p:cNvPr>
          <p:cNvSpPr txBox="1"/>
          <p:nvPr/>
        </p:nvSpPr>
        <p:spPr>
          <a:xfrm>
            <a:off x="3140927" y="3902926"/>
            <a:ext cx="870724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Ориентированы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только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крипту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Фиатные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курсу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ЦБР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недоступны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Требуют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регистрацию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59C9AC-5836-D24F-31C0-D5BEFDA112BD}"/>
              </a:ext>
            </a:extLst>
          </p:cNvPr>
          <p:cNvSpPr txBox="1"/>
          <p:nvPr/>
        </p:nvSpPr>
        <p:spPr>
          <a:xfrm>
            <a:off x="483219" y="4702097"/>
            <a:ext cx="19235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chemeClr val="bg1"/>
                </a:solidFill>
                <a:latin typeface="Arial"/>
                <a:cs typeface="Arial"/>
              </a:rPr>
              <a:t>Банковские</a:t>
            </a:r>
            <a:r>
              <a:rPr lang="en-US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b="1" err="1">
                <a:solidFill>
                  <a:schemeClr val="bg1"/>
                </a:solidFill>
                <a:latin typeface="Arial"/>
                <a:cs typeface="Arial"/>
              </a:rPr>
              <a:t>приложения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92D804-421A-6868-1B0E-93739385EFEC}"/>
              </a:ext>
            </a:extLst>
          </p:cNvPr>
          <p:cNvSpPr txBox="1"/>
          <p:nvPr/>
        </p:nvSpPr>
        <p:spPr>
          <a:xfrm>
            <a:off x="2481146" y="4702097"/>
            <a:ext cx="4088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⚠️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0CA2A-D400-66EC-03E5-909B754B114C}"/>
              </a:ext>
            </a:extLst>
          </p:cNvPr>
          <p:cNvSpPr txBox="1"/>
          <p:nvPr/>
        </p:nvSpPr>
        <p:spPr>
          <a:xfrm>
            <a:off x="3159512" y="4729975"/>
            <a:ext cx="870724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Показывают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только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коммерческий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банка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а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официальный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Закрытая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экосистема</a:t>
            </a: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01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553A51-6DD7-3C09-0D32-A0FE7B3F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" r="36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8471B3-F87D-040B-8929-B1D590292671}"/>
              </a:ext>
            </a:extLst>
          </p:cNvPr>
          <p:cNvSpPr txBox="1"/>
          <p:nvPr/>
        </p:nvSpPr>
        <p:spPr>
          <a:xfrm>
            <a:off x="660400" y="14732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Преимущества</a:t>
            </a:r>
            <a:r>
              <a:rPr lang="en-US" sz="3200" b="1" i="0" u="none" strike="noStrik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проекта</a:t>
            </a:r>
            <a:endParaRPr lang="en-US" sz="3200" err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8E1C0-9FDF-B789-8DE5-94838EF022E6}"/>
              </a:ext>
            </a:extLst>
          </p:cNvPr>
          <p:cNvSpPr txBox="1"/>
          <p:nvPr/>
        </p:nvSpPr>
        <p:spPr>
          <a:xfrm>
            <a:off x="375920" y="1173480"/>
            <a:ext cx="267208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i="0" u="none" strike="noStrike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Официальный</a:t>
            </a:r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i="0" u="none" strike="noStrike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lang="en-US" sz="2400" b="1" i="0" u="none" strike="noStrike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ЦБР</a:t>
            </a:r>
            <a:endParaRPr lang="en-US" sz="240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24C2D-8452-C341-7DEA-DCE2EBFE9D23}"/>
              </a:ext>
            </a:extLst>
          </p:cNvPr>
          <p:cNvSpPr txBox="1"/>
          <p:nvPr/>
        </p:nvSpPr>
        <p:spPr>
          <a:xfrm>
            <a:off x="2926080" y="1305560"/>
            <a:ext cx="78232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0" u="none" strike="noStrike" baseline="0">
                <a:solidFill>
                  <a:srgbClr val="FFBB29"/>
                </a:solidFill>
                <a:latin typeface="Calibri"/>
              </a:rPr>
              <a:t>💡</a:t>
            </a:r>
            <a:endParaRPr lang="en-US" sz="400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4371C-950E-6198-AECF-D19231D901BB}"/>
              </a:ext>
            </a:extLst>
          </p:cNvPr>
          <p:cNvSpPr txBox="1"/>
          <p:nvPr/>
        </p:nvSpPr>
        <p:spPr>
          <a:xfrm>
            <a:off x="467360" y="1976120"/>
            <a:ext cx="37084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Данные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берутся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напрямую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сайта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Центрального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Банка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России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максимально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точно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b="0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актуально</a:t>
            </a:r>
            <a:r>
              <a:rPr lang="en-US" sz="2000"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336C5-D327-222F-3EDF-56A2FD7FC7B5}"/>
              </a:ext>
            </a:extLst>
          </p:cNvPr>
          <p:cNvSpPr txBox="1"/>
          <p:nvPr/>
        </p:nvSpPr>
        <p:spPr>
          <a:xfrm>
            <a:off x="4236719" y="1163320"/>
            <a:ext cx="267208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Простой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интерфейс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52734D-9BB5-1A98-5E33-C48AC90732E6}"/>
              </a:ext>
            </a:extLst>
          </p:cNvPr>
          <p:cNvSpPr txBox="1"/>
          <p:nvPr/>
        </p:nvSpPr>
        <p:spPr>
          <a:xfrm>
            <a:off x="6786880" y="1315720"/>
            <a:ext cx="78232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🖥️</a:t>
            </a:r>
            <a:endParaRPr lang="en-US" sz="4000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37601-C5D0-D176-2616-85203D1F56BC}"/>
              </a:ext>
            </a:extLst>
          </p:cNvPr>
          <p:cNvSpPr txBox="1"/>
          <p:nvPr/>
        </p:nvSpPr>
        <p:spPr>
          <a:xfrm>
            <a:off x="4328159" y="1986279"/>
            <a:ext cx="37084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Никакой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рекламы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лишних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кнопок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регистрации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Открыл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и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сразу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работает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6E554-4DFD-6439-B344-210EECB451E2}"/>
              </a:ext>
            </a:extLst>
          </p:cNvPr>
          <p:cNvSpPr txBox="1"/>
          <p:nvPr/>
        </p:nvSpPr>
        <p:spPr>
          <a:xfrm>
            <a:off x="8199118" y="1346200"/>
            <a:ext cx="26720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Быстрый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обмен</a:t>
            </a:r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EA168-947D-C0BA-6D69-0C50ED8892F8}"/>
              </a:ext>
            </a:extLst>
          </p:cNvPr>
          <p:cNvSpPr txBox="1"/>
          <p:nvPr/>
        </p:nvSpPr>
        <p:spPr>
          <a:xfrm>
            <a:off x="10657839" y="1305560"/>
            <a:ext cx="78232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🔄</a:t>
            </a:r>
            <a:endParaRPr lang="en-US" sz="4000"/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92E94B-5C7C-69FB-9EFC-284147664B17}"/>
              </a:ext>
            </a:extLst>
          </p:cNvPr>
          <p:cNvSpPr txBox="1"/>
          <p:nvPr/>
        </p:nvSpPr>
        <p:spPr>
          <a:xfrm>
            <a:off x="8199118" y="1976118"/>
            <a:ext cx="37084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Кнопка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смены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местами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экономит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время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обратном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расчёте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00CA4-F3B0-4D25-C1E2-A409B10BA793}"/>
              </a:ext>
            </a:extLst>
          </p:cNvPr>
          <p:cNvSpPr txBox="1"/>
          <p:nvPr/>
        </p:nvSpPr>
        <p:spPr>
          <a:xfrm>
            <a:off x="579120" y="4475480"/>
            <a:ext cx="420624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Крипта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фиат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одном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месте</a:t>
            </a:r>
            <a:endParaRPr lang="en-US" sz="24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E73DF-EE23-5866-EBBB-418158D340CE}"/>
              </a:ext>
            </a:extLst>
          </p:cNvPr>
          <p:cNvSpPr txBox="1"/>
          <p:nvPr/>
        </p:nvSpPr>
        <p:spPr>
          <a:xfrm>
            <a:off x="4785360" y="4363720"/>
            <a:ext cx="78232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⚡</a:t>
            </a:r>
            <a:endParaRPr lang="en-US" sz="4000"/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8C31F-8BAB-CE3F-5D1D-478CF1BB4598}"/>
              </a:ext>
            </a:extLst>
          </p:cNvPr>
          <p:cNvSpPr txBox="1"/>
          <p:nvPr/>
        </p:nvSpPr>
        <p:spPr>
          <a:xfrm>
            <a:off x="660400" y="5217160"/>
            <a:ext cx="494792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нужно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переключаться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сервисами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Всё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криптовалюты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в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одном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окне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1F704-05A9-F2EC-456F-B821B81E9442}"/>
              </a:ext>
            </a:extLst>
          </p:cNvPr>
          <p:cNvSpPr txBox="1"/>
          <p:nvPr/>
        </p:nvSpPr>
        <p:spPr>
          <a:xfrm>
            <a:off x="6370320" y="4505960"/>
            <a:ext cx="420624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Система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рекомен</a:t>
            </a:r>
            <a:r>
              <a:rPr lang="en-US" sz="24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даций</a:t>
            </a:r>
          </a:p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0EAEF7-77DD-9C11-51A8-8518809C2AB3}"/>
              </a:ext>
            </a:extLst>
          </p:cNvPr>
          <p:cNvSpPr txBox="1"/>
          <p:nvPr/>
        </p:nvSpPr>
        <p:spPr>
          <a:xfrm>
            <a:off x="10576560" y="4373880"/>
            <a:ext cx="78232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🎯</a:t>
            </a:r>
            <a:endParaRPr lang="en-US" sz="4000"/>
          </a:p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59FB90-33A1-101D-7D3A-DAE25C93A50D}"/>
              </a:ext>
            </a:extLst>
          </p:cNvPr>
          <p:cNvSpPr txBox="1"/>
          <p:nvPr/>
        </p:nvSpPr>
        <p:spPr>
          <a:xfrm>
            <a:off x="6715760" y="5227320"/>
            <a:ext cx="494792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Блок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популярных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пар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сокращает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количество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действий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минимума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клик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вместо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ручного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выбора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8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13B3B-01F8-0EAB-238C-1D863AFD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" r="34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A0621D-58C2-9EE0-54F5-0B883972C082}"/>
              </a:ext>
            </a:extLst>
          </p:cNvPr>
          <p:cNvSpPr txBox="1"/>
          <p:nvPr/>
        </p:nvSpPr>
        <p:spPr>
          <a:xfrm>
            <a:off x="619760" y="14732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Перспективы</a:t>
            </a:r>
            <a:r>
              <a:rPr lang="en-US" sz="3200" b="1" i="0" u="none" strike="noStrik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развития</a:t>
            </a:r>
            <a:endParaRPr lang="en-US" sz="3200" err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4C25E-FCC7-B887-E106-CBF8652D4213}"/>
              </a:ext>
            </a:extLst>
          </p:cNvPr>
          <p:cNvSpPr txBox="1"/>
          <p:nvPr/>
        </p:nvSpPr>
        <p:spPr>
          <a:xfrm>
            <a:off x="883920" y="1711960"/>
            <a:ext cx="26924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Версия</a:t>
            </a:r>
            <a:r>
              <a:rPr lang="en-US" sz="40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1.1</a:t>
            </a:r>
            <a:endParaRPr lang="en-US" sz="400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5C766-CDED-045D-42E7-AC7BB401E7A0}"/>
              </a:ext>
            </a:extLst>
          </p:cNvPr>
          <p:cNvSpPr txBox="1"/>
          <p:nvPr/>
        </p:nvSpPr>
        <p:spPr>
          <a:xfrm>
            <a:off x="4744719" y="1691639"/>
            <a:ext cx="26924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Версия</a:t>
            </a:r>
            <a:r>
              <a:rPr lang="en-US" sz="40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1.2</a:t>
            </a:r>
            <a:endParaRPr lang="en-US" sz="400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A9741-D7E3-9163-9D6B-14C4F26C5AD4}"/>
              </a:ext>
            </a:extLst>
          </p:cNvPr>
          <p:cNvSpPr txBox="1"/>
          <p:nvPr/>
        </p:nvSpPr>
        <p:spPr>
          <a:xfrm>
            <a:off x="8605520" y="1691640"/>
            <a:ext cx="26924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Версия</a:t>
            </a:r>
            <a:r>
              <a:rPr lang="en-US" sz="4000" b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 2.0</a:t>
            </a:r>
            <a:endParaRPr lang="en-US" sz="400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754FD-E345-9B74-9590-8A105E1E7B19}"/>
              </a:ext>
            </a:extLst>
          </p:cNvPr>
          <p:cNvSpPr txBox="1"/>
          <p:nvPr/>
        </p:nvSpPr>
        <p:spPr>
          <a:xfrm>
            <a:off x="1076960" y="3429000"/>
            <a:ext cx="249936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Расширение</a:t>
            </a:r>
            <a:r>
              <a:rPr lang="en-US" sz="2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списка</a:t>
            </a:r>
            <a:r>
              <a:rPr lang="en-US" sz="2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поддерживаемых</a:t>
            </a:r>
            <a:r>
              <a:rPr lang="en-US" sz="2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solidFill>
                <a:srgbClr val="000000"/>
              </a:solidFill>
              <a:latin typeface="Calisto MT"/>
              <a:ea typeface="Calibri"/>
              <a:cs typeface="Calibri"/>
            </a:endParaRPr>
          </a:p>
          <a:p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Улучшение</a:t>
            </a:r>
            <a:r>
              <a:rPr lang="en-US" sz="2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стабильности</a:t>
            </a:r>
            <a:r>
              <a:rPr lang="en-US" sz="2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API-</a:t>
            </a:r>
            <a:r>
              <a:rPr lang="en-US" sz="2000" b="1" i="0" u="none" strike="noStrike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соединения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3A9672-AF4E-2088-AA6E-337088FD0A07}"/>
              </a:ext>
            </a:extLst>
          </p:cNvPr>
          <p:cNvSpPr txBox="1"/>
          <p:nvPr/>
        </p:nvSpPr>
        <p:spPr>
          <a:xfrm>
            <a:off x="4937760" y="3428999"/>
            <a:ext cx="249936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История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последних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конвертаций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пользователя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b="1" err="1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Настройка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интерфейса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предпочтения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76EE3-152A-A79B-7B60-06B5BE703E71}"/>
              </a:ext>
            </a:extLst>
          </p:cNvPr>
          <p:cNvSpPr txBox="1"/>
          <p:nvPr/>
        </p:nvSpPr>
        <p:spPr>
          <a:xfrm>
            <a:off x="8696960" y="3428999"/>
            <a:ext cx="249936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Оптимизация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приложения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мобильные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устройства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Графики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изменения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курса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период</a:t>
            </a: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2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5807B0-E43F-E4DE-BA22-15FC0A0EA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0BE68D-687E-E41C-DAB7-CDB6ABD1A2C0}"/>
              </a:ext>
            </a:extLst>
          </p:cNvPr>
          <p:cNvSpPr txBox="1"/>
          <p:nvPr/>
        </p:nvSpPr>
        <p:spPr>
          <a:xfrm>
            <a:off x="696951" y="13939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Заключение</a:t>
            </a:r>
            <a:endParaRPr lang="en-US" sz="32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6A25C-4EC1-FA80-4247-882E2328593C}"/>
              </a:ext>
            </a:extLst>
          </p:cNvPr>
          <p:cNvSpPr txBox="1"/>
          <p:nvPr/>
        </p:nvSpPr>
        <p:spPr>
          <a:xfrm>
            <a:off x="472192" y="1114998"/>
            <a:ext cx="457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ea typeface="+mn-lt"/>
                <a:cs typeface="+mn-lt"/>
              </a:rPr>
              <a:t>🎯</a:t>
            </a:r>
            <a:endParaRPr lang="en-US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B1292-D49A-E3AF-E4DB-A81CF1E01D92}"/>
              </a:ext>
            </a:extLst>
          </p:cNvPr>
          <p:cNvSpPr txBox="1"/>
          <p:nvPr/>
        </p:nvSpPr>
        <p:spPr>
          <a:xfrm>
            <a:off x="1263805" y="1302215"/>
            <a:ext cx="29197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Проект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реализован</a:t>
            </a:r>
            <a:endParaRPr lang="en-US" sz="2400" b="1" dirty="0">
              <a:solidFill>
                <a:srgbClr val="FFBB2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A8D20-28B7-3B0A-1CF1-A84E30516065}"/>
              </a:ext>
            </a:extLst>
          </p:cNvPr>
          <p:cNvSpPr txBox="1"/>
          <p:nvPr/>
        </p:nvSpPr>
        <p:spPr>
          <a:xfrm>
            <a:off x="696951" y="1914292"/>
            <a:ext cx="3345366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Разработан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рабочий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конвертер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объединяющий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фиатные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валюты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криптовалюты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одном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удобном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0" u="none" strike="noStrike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веб-приложении</a:t>
            </a:r>
            <a:r>
              <a:rPr lang="en-US" sz="2000" i="0" u="none" strike="noStrike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3F3A7-052D-6978-5A03-9E7F146AEF09}"/>
              </a:ext>
            </a:extLst>
          </p:cNvPr>
          <p:cNvSpPr txBox="1"/>
          <p:nvPr/>
        </p:nvSpPr>
        <p:spPr>
          <a:xfrm>
            <a:off x="4291484" y="1105705"/>
            <a:ext cx="457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ea typeface="+mn-lt"/>
                <a:cs typeface="+mn-lt"/>
              </a:rPr>
              <a:t>🔧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5EE4B-F037-7363-E585-19A8F47675E3}"/>
              </a:ext>
            </a:extLst>
          </p:cNvPr>
          <p:cNvSpPr txBox="1"/>
          <p:nvPr/>
        </p:nvSpPr>
        <p:spPr>
          <a:xfrm>
            <a:off x="5083097" y="1116361"/>
            <a:ext cx="29197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Стек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освоен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практике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A46B23-BC20-E8C5-533E-22680A1C8F14}"/>
              </a:ext>
            </a:extLst>
          </p:cNvPr>
          <p:cNvSpPr txBox="1"/>
          <p:nvPr/>
        </p:nvSpPr>
        <p:spPr>
          <a:xfrm>
            <a:off x="4348975" y="1951463"/>
            <a:ext cx="3494048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Применены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Python,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requests,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xml.etree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Crypto API.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Реализовано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получение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обработка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данных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реальном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времени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9F73B-987E-80D2-5456-8014EE062D79}"/>
              </a:ext>
            </a:extLst>
          </p:cNvPr>
          <p:cNvSpPr txBox="1"/>
          <p:nvPr/>
        </p:nvSpPr>
        <p:spPr>
          <a:xfrm>
            <a:off x="8166533" y="1096412"/>
            <a:ext cx="457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ea typeface="+mn-lt"/>
                <a:cs typeface="+mn-lt"/>
              </a:rPr>
              <a:t>⬆️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B9F82-86A4-F714-79C3-9031725E9A0C}"/>
              </a:ext>
            </a:extLst>
          </p:cNvPr>
          <p:cNvSpPr txBox="1"/>
          <p:nvPr/>
        </p:nvSpPr>
        <p:spPr>
          <a:xfrm>
            <a:off x="8976731" y="1116361"/>
            <a:ext cx="29197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Продолжаем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двигаться</a:t>
            </a:r>
            <a:r>
              <a:rPr lang="en-US" sz="2400" b="1" dirty="0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BB29"/>
                </a:solidFill>
                <a:latin typeface="Calibri"/>
                <a:ea typeface="Calibri"/>
                <a:cs typeface="Calibri"/>
              </a:rPr>
              <a:t>дальше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67E79-97CD-2A15-A84C-BE1C434491C3}"/>
              </a:ext>
            </a:extLst>
          </p:cNvPr>
          <p:cNvSpPr txBox="1"/>
          <p:nvPr/>
        </p:nvSpPr>
        <p:spPr>
          <a:xfrm>
            <a:off x="8391292" y="1951462"/>
            <a:ext cx="3345366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Проект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открыт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развития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оптимизация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под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мобильные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устройства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история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конвертаций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и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уведомления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о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курсе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18" name="Picture 17" descr="A qr code with a dinosaur&#10;&#10;AI-generated content may be incorrect.">
            <a:extLst>
              <a:ext uri="{FF2B5EF4-FFF2-40B4-BE49-F238E27FC236}">
                <a16:creationId xmlns:a16="http://schemas.microsoft.com/office/drawing/2014/main" id="{9A66A1B7-1FEB-F63F-CA1E-F1DD5406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33" y="4045802"/>
            <a:ext cx="2139641" cy="21396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9EB419-6DAF-042F-36B3-5107B5735740}"/>
              </a:ext>
            </a:extLst>
          </p:cNvPr>
          <p:cNvSpPr txBox="1"/>
          <p:nvPr/>
        </p:nvSpPr>
        <p:spPr>
          <a:xfrm>
            <a:off x="2394910" y="4459621"/>
            <a:ext cx="391407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Мой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проект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уже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гитхабе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переходи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по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QR-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коду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если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интересен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код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или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то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я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изучал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работы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7793396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65</cp:revision>
  <dcterms:created xsi:type="dcterms:W3CDTF">2026-04-22T12:47:00Z</dcterms:created>
  <dcterms:modified xsi:type="dcterms:W3CDTF">2026-04-22T18:12:51Z</dcterms:modified>
</cp:coreProperties>
</file>